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3" r:id="rId4"/>
    <p:sldId id="275" r:id="rId5"/>
    <p:sldId id="277" r:id="rId6"/>
    <p:sldId id="268" r:id="rId7"/>
    <p:sldId id="267" r:id="rId8"/>
    <p:sldId id="282" r:id="rId9"/>
    <p:sldId id="278" r:id="rId10"/>
    <p:sldId id="279" r:id="rId11"/>
    <p:sldId id="280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2C0A-3A61-9967-5A44-40171548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5A120-F3B9-3BB9-A70A-1FEAEB61C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BC2F7-596A-D47C-9930-0C2B5CCF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129FA-8981-6F1A-BBA2-EF46D2C3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ED30F-8F1B-7D8B-DD0F-CEE26A81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53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A267-F4BD-11F1-E54C-5C88DDEE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2DF45-2056-D605-2B34-90D1C826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E4608-45EA-08D8-4DB1-70441259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4532-4CEC-417E-A1B7-3CFD333A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0293E-1984-B3B4-1C1B-8C1C3971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576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C256-F061-50E4-AE42-67C91B189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F92CB-80BD-39C3-23EF-2FDAC5327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170A-AB9B-4F84-C9E3-E188BD489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7DAAC-AFBD-54DF-3927-0CEED52F1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95995-39E2-C217-18F8-79D9C1B0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087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B534-5942-55E3-6B54-61F95F52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0889-9011-477D-EE28-AEB10AC1A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ED986-B15E-DCFE-F8AF-A5BFFDE36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AB545-BB34-D97F-9815-C2DFAADA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B6D42-4F21-63B4-5410-F8516447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F6A7-0FE3-F7EF-17A7-3D315648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54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7711-5235-2742-D930-F2C4C7C9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C6312-3D3E-7230-07BA-CF7BA710E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C10E9-8FC3-083F-7D10-3F5EEEBB2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0AB0D-7122-3EB0-5115-7814D8D6B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617A5-D6AD-3349-3A72-5E5139A29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28AE2-7533-4CB8-C5C3-B15CBF42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FE07B-B2B1-0393-9B0B-7332C031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F5554-3F59-A022-C20B-E0D033D1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6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5F2D-17F3-9C1C-C9C6-B5F2F466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64F6F-E006-03DB-73C1-4BF35069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7EE1C-3FFB-AD6C-A70E-43175B7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65C20-B1D2-7731-07AB-53E89708D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412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ACDE5-4589-3521-F282-27D60694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6A7A5-221C-C249-1038-97C7B679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E8A10-AA0E-4E4A-6032-BB1E8D33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27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188D-AF3B-DA12-60D5-FB9F5B2D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45C4A-ED55-758B-8C74-4977CD63C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45EE2-5602-DECC-D7FE-FD19D90A0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8DFF-09AE-C08A-E0DB-8CF580E0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E9FC9-6DE2-9C24-D16F-40234DBD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054A-0AA7-1484-3701-EACBEE2C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16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A674-A023-F3ED-64D4-384E3129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A8E4E-93BD-1568-030A-185E7F61D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1D4DA-0064-8DF2-BA49-708CCDF34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76D14-2F20-F876-7E54-B9A099C6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A10F4-A103-1909-5F10-C6872886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57471-5E00-C188-56D5-6D980C70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B86D-6228-84F2-4F94-F697B39F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1FF78-D831-ABB9-74D7-64E7F350D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9E893-D862-5EEA-B8D8-C7B8EA31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ADA3C-185B-3ED2-2015-8DDF4027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B21DA-E8D7-3268-7DFE-CB9E6E52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1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FDA5E9-58B8-D74E-8C59-EE49D25CF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A3FC7-5843-6AEC-312C-F3B75FAF5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43ECB-A859-922E-ED0B-A962E360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00F-64F7-2F9B-B040-2F3D6F1E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C2F7-9347-BAA0-DA9E-355923F4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9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E0D3F-5201-7A52-F7AC-0192876C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31386-98A1-2BDA-D061-EA7B7A915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5F377-EA38-7DAE-3CFC-41AD6FDDB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3B2ED-703D-44E7-90B3-D5622EDE21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A0375-6B2F-00E6-08B3-385612F42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FB167-75CC-A315-03C3-90DE86A0F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03620-4333-467E-8735-8F015A985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3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03987" y="619432"/>
            <a:ext cx="6710516" cy="707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1 - Presentation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9652" y="1663565"/>
            <a:ext cx="8465574" cy="47519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/ Machine </a:t>
            </a:r>
            <a:r>
              <a:rPr lang="en-I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Sector: Agriculture</a:t>
            </a: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Bhavish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Jithesh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Mohammad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Anas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Preksha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Shetty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Raksha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K</a:t>
            </a:r>
          </a:p>
          <a:p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9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 idx="4294967295"/>
          </p:nvPr>
        </p:nvSpPr>
        <p:spPr>
          <a:xfrm>
            <a:off x="1762680" y="604684"/>
            <a:ext cx="8719200" cy="657476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/>
              </a:rPr>
              <a:t>Contents</a:t>
            </a:r>
            <a:endParaRPr lang="en-IN" spc="-1" dirty="0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idx="4294967295"/>
          </p:nvPr>
        </p:nvSpPr>
        <p:spPr>
          <a:xfrm>
            <a:off x="1762680" y="1262160"/>
            <a:ext cx="8719200" cy="474048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Literature </a:t>
            </a: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review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Helvetica;Arial"/>
                <a:cs typeface="Times New Roman" panose="02020603050405020304" pitchFamily="18" charset="0"/>
              </a:rPr>
              <a:t>References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/>
        <p:txBody>
          <a:bodyPr/>
          <a:lstStyle/>
          <a:p>
            <a:fld id="{A6F3A5A8-8DF4-4818-8FD9-8FC06FF9646D}" type="slidenum">
              <a:rPr/>
              <a:t>2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3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 idx="4294967295"/>
          </p:nvPr>
        </p:nvSpPr>
        <p:spPr>
          <a:xfrm>
            <a:off x="1762680" y="575186"/>
            <a:ext cx="8719200" cy="229053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/>
              </a:rPr>
              <a:t>Introduction</a:t>
            </a:r>
            <a:endParaRPr lang="en-IN" spc="-1" dirty="0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idx="4294967295"/>
          </p:nvPr>
        </p:nvSpPr>
        <p:spPr>
          <a:xfrm>
            <a:off x="1762680" y="1312606"/>
            <a:ext cx="8719200" cy="4690033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t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plays a vital role in global food production. However, plant diseases significantly affect crop yield and quality.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disease identification relies on manual observation by experts, which can be time-consuming and inaccurate.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advancements in Machine Learning and Computer Vision allow automated plant disease detection using leaf images.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diagnosis systems help farmers: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diseases early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crop loss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agricultural productivity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scalable diagnostic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/>
        <p:txBody>
          <a:bodyPr/>
          <a:lstStyle/>
          <a:p>
            <a:fld id="{A26FB8AA-B3F7-48F3-A844-8CED66367FCC}" type="slidenum">
              <a:rPr/>
              <a:t>3</a:t>
            </a:fld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2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 idx="4294967295"/>
          </p:nvPr>
        </p:nvSpPr>
        <p:spPr>
          <a:xfrm>
            <a:off x="1762680" y="722670"/>
            <a:ext cx="8719200" cy="81569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 smtClean="0">
                <a:solidFill>
                  <a:srgbClr val="0000FF"/>
                </a:solidFill>
                <a:latin typeface="Times New Roman"/>
              </a:rPr>
              <a:t>Problem Statement</a:t>
            </a:r>
            <a:endParaRPr lang="en-IN" spc="-1" dirty="0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idx="4294967295"/>
          </p:nvPr>
        </p:nvSpPr>
        <p:spPr>
          <a:xfrm>
            <a:off x="1762680" y="1489587"/>
            <a:ext cx="8719200" cy="4513008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t"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diseases cause significant reduction in crop yield and quality.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disease detection relies on manual inspection by experts, which is time-consuming and not always accurate.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farmers, especially in rural areas, lack access to agricultural experts for timely diagnosis.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variations and multiple disease types make manual identification difficult and inconsistent.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and efficient system that can detect plant diseases early using leaf images.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 and Image Processing, diseases can be identified quickly to help farmers take preventive actions.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/>
        <p:txBody>
          <a:bodyPr/>
          <a:lstStyle/>
          <a:p>
            <a:fld id="{A26FB8AA-B3F7-48F3-A844-8CED66367FCC}" type="slidenum">
              <a:rPr/>
              <a:t>4</a:t>
            </a:fld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6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 idx="4294967295"/>
          </p:nvPr>
        </p:nvSpPr>
        <p:spPr>
          <a:xfrm>
            <a:off x="1762680" y="758520"/>
            <a:ext cx="8719200" cy="45719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/>
                <a:ea typeface="Noto Sans CJK SC"/>
              </a:rPr>
              <a:t>Objectives</a:t>
            </a:r>
            <a:endParaRPr lang="en-IN" spc="-1" dirty="0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idx="4294967295"/>
          </p:nvPr>
        </p:nvSpPr>
        <p:spPr>
          <a:xfrm>
            <a:off x="1762680" y="1814052"/>
            <a:ext cx="8719200" cy="4188588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numCol="1" spcCol="0" rtlCol="0" anchor="t"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system for detecting plant diseases from leaf images.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machine learning or deep learning algorithms for disease classification.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dependency on manual agricultural experts.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early detection of plant diseases.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farmers in taking timely preventive measures.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scalable system that can be used in real agricultural environments.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94967295"/>
          </p:nvPr>
        </p:nvSpPr>
        <p:spPr/>
        <p:txBody>
          <a:bodyPr/>
          <a:lstStyle/>
          <a:p>
            <a:fld id="{A26FB8AA-B3F7-48F3-A844-8CED66367FCC}" type="slidenum">
              <a:rPr/>
              <a:t>5</a:t>
            </a:fld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2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60295" y="1289160"/>
            <a:ext cx="5496025" cy="4129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PlaceHolder 1"/>
          <p:cNvSpPr>
            <a:spLocks noGrp="1"/>
          </p:cNvSpPr>
          <p:nvPr>
            <p:ph type="title" idx="4294967295"/>
          </p:nvPr>
        </p:nvSpPr>
        <p:spPr>
          <a:xfrm>
            <a:off x="1736400" y="634181"/>
            <a:ext cx="8719200" cy="766916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Literature </a:t>
            </a:r>
            <a:r>
              <a:rPr lang="en-US" b="1" spc="-1" dirty="0" smtClean="0">
                <a:solidFill>
                  <a:srgbClr val="0000FF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Review</a:t>
            </a:r>
            <a:br>
              <a:rPr lang="en-US" b="1" spc="-1" dirty="0" smtClean="0">
                <a:solidFill>
                  <a:srgbClr val="0000FF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r>
              <a:rPr lang="en-US" b="1" spc="-1" dirty="0">
                <a:solidFill>
                  <a:srgbClr val="0000FF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/>
            </a:r>
            <a:br>
              <a:rPr lang="en-US" b="1" spc="-1" dirty="0">
                <a:solidFill>
                  <a:srgbClr val="0000FF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IN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92520"/>
            <a:ext cx="1904400" cy="4564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numCol="1" spcCol="0" anchor="t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en-US" sz="1400" b="0" strike="noStrike" kern="1200" spc="-1">
                <a:solidFill>
                  <a:srgbClr val="000000"/>
                </a:solidFill>
                <a:latin typeface="Times New Roman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D4583C-B6A1-4371-89AE-392C79BD1C22}" type="slidenum">
              <a:rPr lang="en-IN" smtClean="0"/>
              <a:pPr/>
              <a:t>6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7D44F6-EC89-3F51-AAC4-E87B98324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142508"/>
              </p:ext>
            </p:extLst>
          </p:nvPr>
        </p:nvGraphicFramePr>
        <p:xfrm>
          <a:off x="1736400" y="1289160"/>
          <a:ext cx="8525670" cy="4509965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438870">
                  <a:extLst>
                    <a:ext uri="{9D8B030D-6E8A-4147-A177-3AD203B41FA5}">
                      <a16:colId xmlns:a16="http://schemas.microsoft.com/office/drawing/2014/main" val="3206754040"/>
                    </a:ext>
                  </a:extLst>
                </a:gridCol>
                <a:gridCol w="1606098">
                  <a:extLst>
                    <a:ext uri="{9D8B030D-6E8A-4147-A177-3AD203B41FA5}">
                      <a16:colId xmlns:a16="http://schemas.microsoft.com/office/drawing/2014/main" val="1289025965"/>
                    </a:ext>
                  </a:extLst>
                </a:gridCol>
                <a:gridCol w="4480702">
                  <a:extLst>
                    <a:ext uri="{9D8B030D-6E8A-4147-A177-3AD203B41FA5}">
                      <a16:colId xmlns:a16="http://schemas.microsoft.com/office/drawing/2014/main" val="2149520057"/>
                    </a:ext>
                  </a:extLst>
                </a:gridCol>
              </a:tblGrid>
              <a:tr h="47415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683076"/>
                  </a:ext>
                </a:extLst>
              </a:tr>
              <a:tr h="206594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Optimized Convolutional Neural Networks for Real-Time Leaf</a:t>
                      </a:r>
                      <a:r>
                        <a:rPr lang="en-IN" sz="18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Disease Detection</a:t>
                      </a:r>
                      <a:r>
                        <a:rPr lang="en-IN" sz="22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[1].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endParaRPr lang="en-US"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Sharma et al.</a:t>
                      </a:r>
                    </a:p>
                    <a:p>
                      <a:pPr algn="just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(2024).</a:t>
                      </a:r>
                      <a:endParaRPr lang="en-IN" sz="2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Used Optimized CNN for real-time leaf disease detection with high classification accuracy.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204192"/>
                  </a:ext>
                </a:extLst>
              </a:tr>
              <a:tr h="196987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Lightweight Deep Learning Models for Rural Plant Disease Diagnosis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[2].</a:t>
                      </a:r>
                      <a:endParaRPr lang="en-US" sz="2000" b="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Kumar &amp; Singh(2024).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lightweight deep learning model for efficient disease detection on low-resource rural devices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34752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4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60295" y="1289160"/>
            <a:ext cx="5496025" cy="4129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PlaceHolder 1"/>
          <p:cNvSpPr>
            <a:spLocks noGrp="1"/>
          </p:cNvSpPr>
          <p:nvPr>
            <p:ph type="title" idx="4294967295"/>
          </p:nvPr>
        </p:nvSpPr>
        <p:spPr>
          <a:xfrm>
            <a:off x="1736400" y="660717"/>
            <a:ext cx="8719200" cy="430663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numCol="1" spcCol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Literature Review</a:t>
            </a:r>
            <a:endParaRPr lang="en-IN" spc="-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92520"/>
            <a:ext cx="1904400" cy="4564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numCol="1" spcCol="0" anchor="t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en-US" sz="1400" b="0" strike="noStrike" kern="1200" spc="-1">
                <a:solidFill>
                  <a:srgbClr val="000000"/>
                </a:solidFill>
                <a:latin typeface="Times New Roman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D4583C-B6A1-4371-89AE-392C79BD1C22}" type="slidenum">
              <a:rPr lang="en-IN" smtClean="0"/>
              <a:pPr/>
              <a:t>7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7D44F6-EC89-3F51-AAC4-E87B98324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748574"/>
              </p:ext>
            </p:extLst>
          </p:nvPr>
        </p:nvGraphicFramePr>
        <p:xfrm>
          <a:off x="1929930" y="1289159"/>
          <a:ext cx="8525670" cy="475768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438870">
                  <a:extLst>
                    <a:ext uri="{9D8B030D-6E8A-4147-A177-3AD203B41FA5}">
                      <a16:colId xmlns:a16="http://schemas.microsoft.com/office/drawing/2014/main" val="3206754040"/>
                    </a:ext>
                  </a:extLst>
                </a:gridCol>
                <a:gridCol w="1614805">
                  <a:extLst>
                    <a:ext uri="{9D8B030D-6E8A-4147-A177-3AD203B41FA5}">
                      <a16:colId xmlns:a16="http://schemas.microsoft.com/office/drawing/2014/main" val="1289025965"/>
                    </a:ext>
                  </a:extLst>
                </a:gridCol>
                <a:gridCol w="4471995">
                  <a:extLst>
                    <a:ext uri="{9D8B030D-6E8A-4147-A177-3AD203B41FA5}">
                      <a16:colId xmlns:a16="http://schemas.microsoft.com/office/drawing/2014/main" val="2149520057"/>
                    </a:ext>
                  </a:extLst>
                </a:gridCol>
              </a:tblGrid>
              <a:tr h="43333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683076"/>
                  </a:ext>
                </a:extLst>
              </a:tr>
              <a:tr h="169563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Machine Learning Framework for Multi-Crop Disease Identification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[3].</a:t>
                      </a:r>
                      <a:endParaRPr lang="en-IN" sz="2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endParaRPr lang="en-US" sz="22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Patel et al.(2024)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Developed hybrid image processing + ML framework to support multi-crop disease detection.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204192"/>
                  </a:ext>
                </a:extLst>
              </a:tr>
              <a:tr h="131435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Cloud-Based Plant Disease Monitoring and Diagnostic Systems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[4].</a:t>
                      </a:r>
                      <a:endParaRPr lang="en-US" sz="2200" b="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Verma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Joshi(2025)</a:t>
                      </a: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Implemented cloud-based system where farmers upload leaf images and receive instant diagnosis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34752"/>
                  </a:ext>
                </a:extLst>
              </a:tr>
              <a:tr h="131435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Adaptive Learning Approaches for Multi-Crop Disease Recognition[5].</a:t>
                      </a:r>
                      <a:endParaRPr lang="en-US" sz="2200" b="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Reddy et al.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(2025).</a:t>
                      </a:r>
                      <a:endParaRPr lang="en-IN" sz="2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Introduced adaptive learning model that improves disease detection using incremental data.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748720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967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7924" y="1386348"/>
            <a:ext cx="109285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Collect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leaf images containing both healthy and diseased samples from datasets or field sources.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Resize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images, remove noise, and normalize the dataset to improve model performance.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Extract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such as color, texture, and shape from leaf images to identify disease patterns.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Train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/ Deep Learning model (e.g., CNN) using the prepared dataset to learn disease characteristics.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analyzes new leaf images and classifies them as healthy or diseased.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displays the detected disease type and prediction result, helping farmers take necessary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6154" y="663678"/>
            <a:ext cx="46014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IN" sz="4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77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2387" y="1976284"/>
            <a:ext cx="9719187" cy="41737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outcomes of this project include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identification of plant diseases using image analysis.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 compared to traditional manual methods.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crop losses through early diagnosis.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accessibility for farmers using mobile or computer systems.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agricultural productivity and sustainable farming practices.</a:t>
            </a:r>
          </a:p>
          <a:p>
            <a:pPr algn="just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28451" y="663677"/>
            <a:ext cx="5397909" cy="693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sz="4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0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4181" y="1097593"/>
            <a:ext cx="1110553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diagnosis using machine learning provides an efficient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solution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modern agriculture.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farmers detect diseases early and take preventive measures to reduce crop damage.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image processing techniques enable automated and scalable disease detection.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existing systems show promising results, challenges such as environmental variability, computational limitations, and connectivity issues still exist.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improvements in AI technology will enhance the effectiveness of plant disease detection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9174" y="486696"/>
            <a:ext cx="5619136" cy="9438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</a:rPr>
              <a:t>Conclusion</a:t>
            </a:r>
            <a:endParaRPr lang="en-IN" sz="4400" b="1" dirty="0">
              <a:solidFill>
                <a:srgbClr val="0000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3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4968" y="958644"/>
            <a:ext cx="11739716" cy="5751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0000" indent="-720000" algn="just">
              <a:lnSpc>
                <a:spcPct val="150000"/>
              </a:lnSpc>
            </a:pPr>
            <a:endParaRPr lang="en-I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 indent="-720000" algn="just"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Sharma, A. Gupta, and P. Mehta, “Optimized Convolutional Neural Networks for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Disease Detection,” Journal of Smart Agriculture Systems, 2024.</a:t>
            </a:r>
          </a:p>
          <a:p>
            <a:pPr marL="540000" indent="-720000" algn="just"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2]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Kumar and R. Singh, “Lightweight Deep Learning Models for Rural Plant Disease Diagnosis,” International Journal of Agricultural Technology, 2024. </a:t>
            </a:r>
          </a:p>
          <a:p>
            <a:pPr marL="540000" indent="-720000"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Patel, M. Shah, and K. Trivedi, “Hybrid Machine Learning Framework for Multi Crop Disease Identification,” Computers in Agriculture Review, 2024.</a:t>
            </a:r>
          </a:p>
          <a:p>
            <a:pPr marL="540000" indent="-720000"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[4] N.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Verma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S. Joshi, “Cloud-Based Plant Disease Monitoring and Diagnostic Sys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 International Journal of Digital Agriculture, 2025. </a:t>
            </a:r>
          </a:p>
          <a:p>
            <a:pPr marL="540000" indent="-720000"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Reddy, T. Rao, and L. Narayan, “Adaptive Learning Approaches for Multi-Crop Disease Recognition,” Journal of Advanced Agricultural Informatics, 2025.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2194" y="648929"/>
            <a:ext cx="5324167" cy="707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References</a:t>
            </a:r>
            <a:endParaRPr lang="en-IN" sz="4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5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2606" y="2079523"/>
            <a:ext cx="8259097" cy="2079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680" y="-254403"/>
            <a:ext cx="1811703" cy="17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5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868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Helvetica;Arial</vt:lpstr>
      <vt:lpstr>Noto Sans CJK SC</vt:lpstr>
      <vt:lpstr>Times New Roman</vt:lpstr>
      <vt:lpstr>Office Theme</vt:lpstr>
      <vt:lpstr>PowerPoint Presentation</vt:lpstr>
      <vt:lpstr>Contents</vt:lpstr>
      <vt:lpstr>Introduction</vt:lpstr>
      <vt:lpstr>Problem Statement</vt:lpstr>
      <vt:lpstr>Objectives</vt:lpstr>
      <vt:lpstr>Literature Review  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preksha shetty</dc:creator>
  <cp:lastModifiedBy>HP</cp:lastModifiedBy>
  <cp:revision>20</cp:revision>
  <dcterms:created xsi:type="dcterms:W3CDTF">2026-03-09T09:59:01Z</dcterms:created>
  <dcterms:modified xsi:type="dcterms:W3CDTF">2026-03-10T04:55:06Z</dcterms:modified>
</cp:coreProperties>
</file>